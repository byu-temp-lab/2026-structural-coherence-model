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0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46445021851467"/>
          <c:y val="5.9523809523809521E-2"/>
          <c:w val="0.80297325127917429"/>
          <c:h val="0.79510717638514183"/>
        </c:manualLayout>
      </c:layout>
      <c:scatterChart>
        <c:scatterStyle val="lineMarker"/>
        <c:varyColors val="0"/>
        <c:ser>
          <c:idx val="4"/>
          <c:order val="0"/>
          <c:tx>
            <c:v>Kinetic Theory - Unary Salts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14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'MFP-rsum (2)'!$AP$2:$AP$22</c:f>
              <c:numCache>
                <c:formatCode>General</c:formatCode>
                <c:ptCount val="21"/>
                <c:pt idx="0" formatCode="0.00E+00">
                  <c:v>1.3498414938304</c:v>
                </c:pt>
                <c:pt idx="1">
                  <c:v>0.842268101058265</c:v>
                </c:pt>
                <c:pt idx="2">
                  <c:v>0.58268227937308503</c:v>
                </c:pt>
                <c:pt idx="5">
                  <c:v>0.68631947375037605</c:v>
                </c:pt>
                <c:pt idx="6">
                  <c:v>0.48682954154178998</c:v>
                </c:pt>
                <c:pt idx="7">
                  <c:v>0.37423569928907002</c:v>
                </c:pt>
                <c:pt idx="12">
                  <c:v>0.43829220310135403</c:v>
                </c:pt>
                <c:pt idx="13">
                  <c:v>0.448735993317051</c:v>
                </c:pt>
                <c:pt idx="14">
                  <c:v>0.383511707903748</c:v>
                </c:pt>
              </c:numCache>
            </c:numRef>
          </c:xVal>
          <c:yVal>
            <c:numRef>
              <c:f>'MFP-rsum (2)'!$AI$2:$AI$19</c:f>
              <c:numCache>
                <c:formatCode>General</c:formatCode>
                <c:ptCount val="18"/>
                <c:pt idx="0">
                  <c:v>1.2682350574951</c:v>
                </c:pt>
                <c:pt idx="1">
                  <c:v>1.2192784382425901</c:v>
                </c:pt>
                <c:pt idx="2">
                  <c:v>0.62200825361355605</c:v>
                </c:pt>
                <c:pt idx="5">
                  <c:v>0.62171538406412596</c:v>
                </c:pt>
                <c:pt idx="6">
                  <c:v>0.47705461868503202</c:v>
                </c:pt>
                <c:pt idx="7">
                  <c:v>0.36559719352224501</c:v>
                </c:pt>
                <c:pt idx="12">
                  <c:v>0.79107788518133404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56C-4C55-9BC1-094224120527}"/>
            </c:ext>
          </c:extLst>
        </c:ser>
        <c:ser>
          <c:idx val="6"/>
          <c:order val="1"/>
          <c:tx>
            <c:v>Kinetic Theory - Mixtures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14"/>
            <c:spPr>
              <a:noFill/>
              <a:ln w="25400">
                <a:solidFill>
                  <a:srgbClr val="00B050"/>
                </a:solidFill>
              </a:ln>
              <a:effectLst/>
            </c:spPr>
          </c:marker>
          <c:xVal>
            <c:numRef>
              <c:f>'MFP-rsum (2)'!$AP$22:$AP$35</c:f>
              <c:numCache>
                <c:formatCode>General</c:formatCode>
                <c:ptCount val="14"/>
                <c:pt idx="2">
                  <c:v>1.51848599870652</c:v>
                </c:pt>
                <c:pt idx="3">
                  <c:v>0.90509686778680298</c:v>
                </c:pt>
                <c:pt idx="11">
                  <c:v>0.59758620590054001</c:v>
                </c:pt>
                <c:pt idx="13">
                  <c:v>1.0757818270761199</c:v>
                </c:pt>
              </c:numCache>
            </c:numRef>
          </c:xVal>
          <c:yVal>
            <c:numRef>
              <c:f>'MFP-rsum (2)'!$AI$22:$AI$35</c:f>
              <c:numCache>
                <c:formatCode>General</c:formatCode>
                <c:ptCount val="14"/>
                <c:pt idx="2">
                  <c:v>1.1000000000000001</c:v>
                </c:pt>
                <c:pt idx="3">
                  <c:v>0.78633287605038305</c:v>
                </c:pt>
                <c:pt idx="11">
                  <c:v>0.766984</c:v>
                </c:pt>
                <c:pt idx="13">
                  <c:v>0.86544945017474995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56C-4C55-9BC1-094224120527}"/>
            </c:ext>
          </c:extLst>
        </c:ser>
        <c:ser>
          <c:idx val="0"/>
          <c:order val="2"/>
          <c:tx>
            <c:v>Kinetic Theory - Actinides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14"/>
            <c:spPr>
              <a:noFill/>
              <a:ln w="25400">
                <a:solidFill>
                  <a:schemeClr val="accent1"/>
                </a:solidFill>
              </a:ln>
              <a:effectLst/>
            </c:spPr>
          </c:marker>
          <c:xVal>
            <c:numRef>
              <c:f>'MFP-rsum (2)'!$AP$36:$AP$37</c:f>
              <c:numCache>
                <c:formatCode>General</c:formatCode>
                <c:ptCount val="2"/>
                <c:pt idx="0">
                  <c:v>0.114791473222003</c:v>
                </c:pt>
                <c:pt idx="1">
                  <c:v>0.111262755604788</c:v>
                </c:pt>
              </c:numCache>
            </c:numRef>
          </c:xVal>
          <c:yVal>
            <c:numRef>
              <c:f>'MFP-rsum (2)'!$AI$36:$AI$37</c:f>
              <c:numCache>
                <c:formatCode>General</c:formatCode>
                <c:ptCount val="2"/>
                <c:pt idx="0">
                  <c:v>0.239262577144952</c:v>
                </c:pt>
                <c:pt idx="1">
                  <c:v>0.27567442291687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56C-4C55-9BC1-094224120527}"/>
            </c:ext>
          </c:extLst>
        </c:ser>
        <c:ser>
          <c:idx val="1"/>
          <c:order val="3"/>
          <c:tx>
            <c:v>Present Model - Unary Salts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xVal>
            <c:numRef>
              <c:f>'MFP-rsum (2)'!$AN$2:$AN$22</c:f>
              <c:numCache>
                <c:formatCode>General</c:formatCode>
                <c:ptCount val="21"/>
                <c:pt idx="0" formatCode="0.00E+00">
                  <c:v>1.27254998016219</c:v>
                </c:pt>
                <c:pt idx="1">
                  <c:v>0.85709429236785095</c:v>
                </c:pt>
                <c:pt idx="2">
                  <c:v>0.571754421134825</c:v>
                </c:pt>
                <c:pt idx="5">
                  <c:v>0.65758853659320404</c:v>
                </c:pt>
                <c:pt idx="6">
                  <c:v>0.50410392462777398</c:v>
                </c:pt>
                <c:pt idx="7">
                  <c:v>0.41550005782079902</c:v>
                </c:pt>
                <c:pt idx="12">
                  <c:v>0.54587387301537704</c:v>
                </c:pt>
                <c:pt idx="13">
                  <c:v>0.66840839048394896</c:v>
                </c:pt>
                <c:pt idx="14">
                  <c:v>0.57386328446067703</c:v>
                </c:pt>
              </c:numCache>
            </c:numRef>
          </c:xVal>
          <c:yVal>
            <c:numRef>
              <c:f>'MFP-rsum (2)'!$AI$2:$AI$22</c:f>
              <c:numCache>
                <c:formatCode>General</c:formatCode>
                <c:ptCount val="21"/>
                <c:pt idx="0">
                  <c:v>1.2682350574951</c:v>
                </c:pt>
                <c:pt idx="1">
                  <c:v>1.2192784382425901</c:v>
                </c:pt>
                <c:pt idx="2">
                  <c:v>0.62200825361355605</c:v>
                </c:pt>
                <c:pt idx="5">
                  <c:v>0.62171538406412596</c:v>
                </c:pt>
                <c:pt idx="6">
                  <c:v>0.47705461868503202</c:v>
                </c:pt>
                <c:pt idx="7">
                  <c:v>0.36559719352224501</c:v>
                </c:pt>
                <c:pt idx="12">
                  <c:v>0.79107788518133404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56C-4C55-9BC1-094224120527}"/>
            </c:ext>
          </c:extLst>
        </c:ser>
        <c:ser>
          <c:idx val="5"/>
          <c:order val="4"/>
          <c:tx>
            <c:v>Present Model - Mixtures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rgbClr val="00B050"/>
              </a:solidFill>
              <a:ln w="9525">
                <a:noFill/>
              </a:ln>
              <a:effectLst/>
            </c:spPr>
          </c:marker>
          <c:xVal>
            <c:numRef>
              <c:f>'MFP-rsum (2)'!$AN$23:$AN$35</c:f>
              <c:numCache>
                <c:formatCode>General</c:formatCode>
                <c:ptCount val="13"/>
                <c:pt idx="1">
                  <c:v>1.2767938196406401</c:v>
                </c:pt>
                <c:pt idx="2">
                  <c:v>0.75631548066380605</c:v>
                </c:pt>
                <c:pt idx="10">
                  <c:v>0.497568288937763</c:v>
                </c:pt>
                <c:pt idx="12">
                  <c:v>0.77860022830973397</c:v>
                </c:pt>
              </c:numCache>
            </c:numRef>
          </c:xVal>
          <c:yVal>
            <c:numRef>
              <c:f>'MFP-rsum (2)'!$AI$23:$AI$35</c:f>
              <c:numCache>
                <c:formatCode>General</c:formatCode>
                <c:ptCount val="13"/>
                <c:pt idx="1">
                  <c:v>1.1000000000000001</c:v>
                </c:pt>
                <c:pt idx="2">
                  <c:v>0.78633287605038305</c:v>
                </c:pt>
                <c:pt idx="10">
                  <c:v>0.766984</c:v>
                </c:pt>
                <c:pt idx="12">
                  <c:v>0.86544945017474995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56C-4C55-9BC1-094224120527}"/>
            </c:ext>
          </c:extLst>
        </c:ser>
        <c:ser>
          <c:idx val="11"/>
          <c:order val="5"/>
          <c:tx>
            <c:v>Present Model - Actinides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4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xVal>
            <c:numRef>
              <c:f>'MFP-rsum (2)'!$AN$36:$AN$37</c:f>
              <c:numCache>
                <c:formatCode>General</c:formatCode>
                <c:ptCount val="2"/>
                <c:pt idx="0">
                  <c:v>0.30100332748313402</c:v>
                </c:pt>
                <c:pt idx="1">
                  <c:v>0.292318880223921</c:v>
                </c:pt>
              </c:numCache>
            </c:numRef>
          </c:xVal>
          <c:yVal>
            <c:numRef>
              <c:f>'MFP-rsum (2)'!$AI$36:$AI$37</c:f>
              <c:numCache>
                <c:formatCode>General</c:formatCode>
                <c:ptCount val="2"/>
                <c:pt idx="0">
                  <c:v>0.239262577144952</c:v>
                </c:pt>
                <c:pt idx="1">
                  <c:v>0.27567442291687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56C-4C55-9BC1-094224120527}"/>
            </c:ext>
          </c:extLst>
        </c:ser>
        <c:ser>
          <c:idx val="3"/>
          <c:order val="6"/>
          <c:tx>
            <c:v>Ideal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trendline>
            <c:spPr>
              <a:ln w="38100" cap="rnd">
                <a:solidFill>
                  <a:schemeClr val="tx1"/>
                </a:solidFill>
                <a:prstDash val="sysDot"/>
              </a:ln>
              <a:effectLst/>
            </c:spPr>
            <c:trendlineType val="linear"/>
            <c:forward val="1.0000000000000005E-9"/>
            <c:intercept val="0"/>
            <c:dispRSqr val="0"/>
            <c:dispEq val="0"/>
          </c:trendline>
          <c:xVal>
            <c:numLit>
              <c:formatCode>General</c:formatCode>
              <c:ptCount val="2"/>
              <c:pt idx="0">
                <c:v>0</c:v>
              </c:pt>
              <c:pt idx="1">
                <c:v>2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2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7-056C-4C55-9BC1-094224120527}"/>
            </c:ext>
          </c:extLst>
        </c:ser>
        <c:ser>
          <c:idx val="2"/>
          <c:order val="7"/>
          <c:tx>
            <c:strRef>
              <c:f>'MFP-rsum (2)'!$AK$1</c:f>
              <c:strCache>
                <c:ptCount val="1"/>
                <c:pt idx="0">
                  <c:v>115%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trendline>
            <c:spPr>
              <a:ln w="38100" cap="rnd">
                <a:solidFill>
                  <a:schemeClr val="tx1">
                    <a:alpha val="50000"/>
                  </a:schemeClr>
                </a:solidFill>
                <a:prstDash val="dash"/>
              </a:ln>
              <a:effectLst/>
            </c:spPr>
            <c:trendlineType val="linear"/>
            <c:forward val="5"/>
            <c:backward val="5"/>
            <c:dispRSqr val="0"/>
            <c:dispEq val="0"/>
          </c:trendline>
          <c:xVal>
            <c:numRef>
              <c:f>'MFP-rsum (2)'!$AI$2:$AI$37</c:f>
              <c:numCache>
                <c:formatCode>General</c:formatCode>
                <c:ptCount val="36"/>
                <c:pt idx="0">
                  <c:v>1.2682350574951</c:v>
                </c:pt>
                <c:pt idx="1">
                  <c:v>1.2192784382425901</c:v>
                </c:pt>
                <c:pt idx="2">
                  <c:v>0.62200825361355605</c:v>
                </c:pt>
                <c:pt idx="5">
                  <c:v>0.62171538406412596</c:v>
                </c:pt>
                <c:pt idx="6">
                  <c:v>0.47705461868503202</c:v>
                </c:pt>
                <c:pt idx="7">
                  <c:v>0.36559719352224501</c:v>
                </c:pt>
                <c:pt idx="12">
                  <c:v>0.79107788518133404</c:v>
                </c:pt>
                <c:pt idx="22">
                  <c:v>1.1000000000000001</c:v>
                </c:pt>
                <c:pt idx="23">
                  <c:v>0.78633287605038305</c:v>
                </c:pt>
                <c:pt idx="31">
                  <c:v>0.766984</c:v>
                </c:pt>
                <c:pt idx="33">
                  <c:v>0.86544945017474995</c:v>
                </c:pt>
                <c:pt idx="34">
                  <c:v>0.239262577144952</c:v>
                </c:pt>
                <c:pt idx="35">
                  <c:v>0.27567442291687</c:v>
                </c:pt>
              </c:numCache>
            </c:numRef>
          </c:xVal>
          <c:yVal>
            <c:numRef>
              <c:f>'MFP-rsum (2)'!$AK$2:$AK$37</c:f>
              <c:numCache>
                <c:formatCode>General</c:formatCode>
                <c:ptCount val="36"/>
                <c:pt idx="0">
                  <c:v>1.4584703161193648</c:v>
                </c:pt>
                <c:pt idx="1">
                  <c:v>1.4021702039789785</c:v>
                </c:pt>
                <c:pt idx="2">
                  <c:v>0.71530949165558944</c:v>
                </c:pt>
                <c:pt idx="5">
                  <c:v>0.71497269167374478</c:v>
                </c:pt>
                <c:pt idx="6">
                  <c:v>0.54861281148778673</c:v>
                </c:pt>
                <c:pt idx="7">
                  <c:v>0.42043677255058171</c:v>
                </c:pt>
                <c:pt idx="12">
                  <c:v>0.90973956795853406</c:v>
                </c:pt>
                <c:pt idx="22">
                  <c:v>1.2649999999999999</c:v>
                </c:pt>
                <c:pt idx="23">
                  <c:v>0.90428280745794043</c:v>
                </c:pt>
                <c:pt idx="31">
                  <c:v>0.88203159999999992</c:v>
                </c:pt>
                <c:pt idx="33">
                  <c:v>0.9952668677009624</c:v>
                </c:pt>
                <c:pt idx="34">
                  <c:v>0.27515196371669476</c:v>
                </c:pt>
                <c:pt idx="35">
                  <c:v>0.31702558635440048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056C-4C55-9BC1-094224120527}"/>
            </c:ext>
          </c:extLst>
        </c:ser>
        <c:ser>
          <c:idx val="7"/>
          <c:order val="8"/>
          <c:tx>
            <c:strRef>
              <c:f>'MFP-rsum (2)'!$AL$1</c:f>
              <c:strCache>
                <c:ptCount val="1"/>
                <c:pt idx="0">
                  <c:v>0.85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trendline>
            <c:spPr>
              <a:ln w="38100" cap="rnd">
                <a:solidFill>
                  <a:schemeClr val="tx1">
                    <a:alpha val="50000"/>
                  </a:schemeClr>
                </a:solidFill>
                <a:prstDash val="dash"/>
              </a:ln>
              <a:effectLst/>
            </c:spPr>
            <c:trendlineType val="linear"/>
            <c:forward val="3"/>
            <c:backward val="3"/>
            <c:intercept val="0"/>
            <c:dispRSqr val="0"/>
            <c:dispEq val="0"/>
          </c:trendline>
          <c:xVal>
            <c:numRef>
              <c:f>'MFP-rsum (2)'!$AI$2:$AI$38</c:f>
              <c:numCache>
                <c:formatCode>General</c:formatCode>
                <c:ptCount val="37"/>
                <c:pt idx="0">
                  <c:v>1.2682350574951</c:v>
                </c:pt>
                <c:pt idx="1">
                  <c:v>1.2192784382425901</c:v>
                </c:pt>
                <c:pt idx="2">
                  <c:v>0.62200825361355605</c:v>
                </c:pt>
                <c:pt idx="5">
                  <c:v>0.62171538406412596</c:v>
                </c:pt>
                <c:pt idx="6">
                  <c:v>0.47705461868503202</c:v>
                </c:pt>
                <c:pt idx="7">
                  <c:v>0.36559719352224501</c:v>
                </c:pt>
                <c:pt idx="12">
                  <c:v>0.79107788518133404</c:v>
                </c:pt>
                <c:pt idx="22">
                  <c:v>1.1000000000000001</c:v>
                </c:pt>
                <c:pt idx="23">
                  <c:v>0.78633287605038305</c:v>
                </c:pt>
                <c:pt idx="31">
                  <c:v>0.766984</c:v>
                </c:pt>
                <c:pt idx="33">
                  <c:v>0.86544945017474995</c:v>
                </c:pt>
                <c:pt idx="34">
                  <c:v>0.239262577144952</c:v>
                </c:pt>
                <c:pt idx="35">
                  <c:v>0.27567442291687</c:v>
                </c:pt>
              </c:numCache>
            </c:numRef>
          </c:xVal>
          <c:yVal>
            <c:numRef>
              <c:f>'MFP-rsum (2)'!$AL$2:$AL$39</c:f>
              <c:numCache>
                <c:formatCode>General</c:formatCode>
                <c:ptCount val="38"/>
                <c:pt idx="0">
                  <c:v>1.077999798870835</c:v>
                </c:pt>
                <c:pt idx="1">
                  <c:v>1.0363866725062016</c:v>
                </c:pt>
                <c:pt idx="2">
                  <c:v>0.52870701557152266</c:v>
                </c:pt>
                <c:pt idx="5">
                  <c:v>0.52845807645450704</c:v>
                </c:pt>
                <c:pt idx="6">
                  <c:v>0.40549642588227719</c:v>
                </c:pt>
                <c:pt idx="7">
                  <c:v>0.31075761449390826</c:v>
                </c:pt>
                <c:pt idx="12">
                  <c:v>0.67241620240413391</c:v>
                </c:pt>
                <c:pt idx="22">
                  <c:v>0.93500000000000005</c:v>
                </c:pt>
                <c:pt idx="23">
                  <c:v>0.66838294464282555</c:v>
                </c:pt>
                <c:pt idx="31">
                  <c:v>0.65193639999999997</c:v>
                </c:pt>
                <c:pt idx="33">
                  <c:v>0.73563203264853738</c:v>
                </c:pt>
                <c:pt idx="34">
                  <c:v>0.20337319057320918</c:v>
                </c:pt>
                <c:pt idx="35">
                  <c:v>0.23432325947933949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056C-4C55-9BC1-094224120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7148400"/>
        <c:axId val="689706896"/>
      </c:scatterChart>
      <c:valAx>
        <c:axId val="757148400"/>
        <c:scaling>
          <c:orientation val="minMax"/>
          <c:max val="1.5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36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3600" b="1" dirty="0" err="1"/>
                  <a:t>k</a:t>
                </a:r>
                <a:r>
                  <a:rPr lang="en-US" sz="3600" b="1" baseline="-25000" dirty="0" err="1"/>
                  <a:t>predicted</a:t>
                </a:r>
                <a:endParaRPr lang="en-US" sz="3600" b="1" baseline="-250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36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#,##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689706896"/>
        <c:crosses val="autoZero"/>
        <c:crossBetween val="midCat"/>
      </c:valAx>
      <c:valAx>
        <c:axId val="689706896"/>
        <c:scaling>
          <c:orientation val="minMax"/>
          <c:max val="1.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36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3600" b="1" dirty="0" err="1"/>
                  <a:t>k</a:t>
                </a:r>
                <a:r>
                  <a:rPr lang="en-US" sz="3600" b="1" baseline="-25000" dirty="0" err="1"/>
                  <a:t>measured</a:t>
                </a:r>
                <a:endParaRPr lang="en-US" sz="3600" b="1" baseline="-250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36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57148400"/>
        <c:crosses val="autoZero"/>
        <c:crossBetween val="midCat"/>
        <c:majorUnit val="0.5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egendEntry>
        <c:idx val="9"/>
        <c:delete val="1"/>
      </c:legendEntry>
      <c:legendEntry>
        <c:idx val="10"/>
        <c:delete val="1"/>
      </c:legendEntry>
      <c:legendEntry>
        <c:idx val="11"/>
        <c:delete val="1"/>
      </c:legendEntry>
      <c:layout>
        <c:manualLayout>
          <c:xMode val="edge"/>
          <c:yMode val="edge"/>
          <c:x val="0.53133975153642754"/>
          <c:y val="0.56622098625523232"/>
          <c:w val="0.41665023884303576"/>
          <c:h val="0.277478764149250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32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3BD42FE-FE0D-6BF8-1AAE-965835240C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6447007"/>
              </p:ext>
            </p:extLst>
          </p:nvPr>
        </p:nvGraphicFramePr>
        <p:xfrm>
          <a:off x="0" y="0"/>
          <a:ext cx="13889038" cy="10396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1853B5-0E3C-F182-1244-A1A433206CF8}"/>
              </a:ext>
            </a:extLst>
          </p:cNvPr>
          <p:cNvSpPr txBox="1"/>
          <p:nvPr/>
        </p:nvSpPr>
        <p:spPr>
          <a:xfrm>
            <a:off x="11864809" y="2428072"/>
            <a:ext cx="111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-15%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E99D9-53FD-1E47-1DCB-8610F8D04D45}"/>
              </a:ext>
            </a:extLst>
          </p:cNvPr>
          <p:cNvSpPr txBox="1"/>
          <p:nvPr/>
        </p:nvSpPr>
        <p:spPr>
          <a:xfrm>
            <a:off x="9575277" y="802266"/>
            <a:ext cx="1233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+15%</a:t>
            </a:r>
          </a:p>
        </p:txBody>
      </p:sp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352</TotalTime>
  <Words>8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14</cp:revision>
  <dcterms:created xsi:type="dcterms:W3CDTF">2025-07-21T18:17:02Z</dcterms:created>
  <dcterms:modified xsi:type="dcterms:W3CDTF">2025-08-29T01:32:27Z</dcterms:modified>
</cp:coreProperties>
</file>